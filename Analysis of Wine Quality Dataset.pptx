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Sorts Mill Goudy"/>
      <p:regular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tsMillGoud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rtsMillGoud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Sorts Mill Goudy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0693" y="377348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Sorts Mill Goudy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subTitle"/>
          </p:nvPr>
        </p:nvSpPr>
        <p:spPr>
          <a:xfrm>
            <a:off x="1370693" y="377348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1295401" y="3763439"/>
            <a:ext cx="9590550" cy="1333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913795" y="609600"/>
            <a:ext cx="10353762" cy="1261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913795" y="2076450"/>
            <a:ext cx="4856841" cy="362267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410716" y="2076451"/>
            <a:ext cx="4856841" cy="36226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59" name="Google Shape;5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3795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38357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1046013" y="1855153"/>
            <a:ext cx="4764764" cy="692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1046013" y="2702103"/>
            <a:ext cx="4764764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3" type="body"/>
          </p:nvPr>
        </p:nvSpPr>
        <p:spPr>
          <a:xfrm>
            <a:off x="6363166" y="1855152"/>
            <a:ext cx="4779582" cy="6924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65" name="Google Shape;65;p9"/>
          <p:cNvSpPr txBox="1"/>
          <p:nvPr>
            <p:ph idx="4" type="body"/>
          </p:nvPr>
        </p:nvSpPr>
        <p:spPr>
          <a:xfrm>
            <a:off x="6363167" y="2702103"/>
            <a:ext cx="4779581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rts Mill Goudy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4855633" y="609600"/>
            <a:ext cx="6411924" cy="50800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2" type="body"/>
          </p:nvPr>
        </p:nvSpPr>
        <p:spPr>
          <a:xfrm>
            <a:off x="913795" y="2673351"/>
            <a:ext cx="3706889" cy="30162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86" name="Google Shape;8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type="title"/>
          </p:nvPr>
        </p:nvSpPr>
        <p:spPr>
          <a:xfrm>
            <a:off x="913795" y="763701"/>
            <a:ext cx="5707899" cy="16755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Sorts Mill Goudy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/>
          <p:nvPr>
            <p:ph idx="2" type="pic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1473698" y="2679699"/>
            <a:ext cx="4588094" cy="31356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94" name="Google Shape;9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rts Mill Goudy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/>
          <p:nvPr>
            <p:ph idx="2" type="pic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913795" y="5247728"/>
            <a:ext cx="10353762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104" name="Google Shape;104;p15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orts Mill Goudy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111" name="Google Shape;111;p16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Sorts Mill Goud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“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Sorts Mill Goud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Sorts Mill Goudy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119" name="Google Shape;119;p17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913795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5" name="Google Shape;125;p18"/>
          <p:cNvSpPr txBox="1"/>
          <p:nvPr>
            <p:ph idx="2" type="body"/>
          </p:nvPr>
        </p:nvSpPr>
        <p:spPr>
          <a:xfrm>
            <a:off x="91379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6" name="Google Shape;126;p18"/>
          <p:cNvSpPr txBox="1"/>
          <p:nvPr>
            <p:ph idx="3" type="body"/>
          </p:nvPr>
        </p:nvSpPr>
        <p:spPr>
          <a:xfrm>
            <a:off x="4446711" y="1885949"/>
            <a:ext cx="3300984" cy="7647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7" name="Google Shape;127;p18"/>
          <p:cNvSpPr txBox="1"/>
          <p:nvPr>
            <p:ph idx="4" type="body"/>
          </p:nvPr>
        </p:nvSpPr>
        <p:spPr>
          <a:xfrm>
            <a:off x="444143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8" name="Google Shape;128;p18"/>
          <p:cNvSpPr txBox="1"/>
          <p:nvPr>
            <p:ph idx="5" type="body"/>
          </p:nvPr>
        </p:nvSpPr>
        <p:spPr>
          <a:xfrm>
            <a:off x="7966572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9" name="Google Shape;129;p18"/>
          <p:cNvSpPr txBox="1"/>
          <p:nvPr>
            <p:ph idx="6" type="body"/>
          </p:nvPr>
        </p:nvSpPr>
        <p:spPr>
          <a:xfrm>
            <a:off x="7966572" y="2768110"/>
            <a:ext cx="3300984" cy="302308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30" name="Google Shape;130;p18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34" name="Google Shape;1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35" name="Google Shape;1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36" name="Google Shape;13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39" name="Google Shape;139;p19"/>
          <p:cNvSpPr/>
          <p:nvPr>
            <p:ph idx="2" type="pic"/>
          </p:nvPr>
        </p:nvSpPr>
        <p:spPr>
          <a:xfrm>
            <a:off x="1018102" y="1938918"/>
            <a:ext cx="3092368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40" name="Google Shape;140;p19"/>
          <p:cNvSpPr txBox="1"/>
          <p:nvPr>
            <p:ph idx="3" type="body"/>
          </p:nvPr>
        </p:nvSpPr>
        <p:spPr>
          <a:xfrm>
            <a:off x="913795" y="4572443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41" name="Google Shape;141;p19"/>
          <p:cNvSpPr txBox="1"/>
          <p:nvPr>
            <p:ph idx="4" type="body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42" name="Google Shape;142;p19"/>
          <p:cNvSpPr/>
          <p:nvPr>
            <p:ph idx="5" type="pic"/>
          </p:nvPr>
        </p:nvSpPr>
        <p:spPr>
          <a:xfrm>
            <a:off x="4545743" y="1939094"/>
            <a:ext cx="3092368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43" name="Google Shape;143;p19"/>
          <p:cNvSpPr txBox="1"/>
          <p:nvPr>
            <p:ph idx="6" type="body"/>
          </p:nvPr>
        </p:nvSpPr>
        <p:spPr>
          <a:xfrm>
            <a:off x="4441435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44" name="Google Shape;144;p19"/>
          <p:cNvSpPr txBox="1"/>
          <p:nvPr>
            <p:ph idx="7" type="body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45" name="Google Shape;145;p19"/>
          <p:cNvSpPr/>
          <p:nvPr>
            <p:ph idx="8" type="pic"/>
          </p:nvPr>
        </p:nvSpPr>
        <p:spPr>
          <a:xfrm>
            <a:off x="8075698" y="1934432"/>
            <a:ext cx="3092368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46" name="Google Shape;146;p19"/>
          <p:cNvSpPr txBox="1"/>
          <p:nvPr>
            <p:ph idx="9" type="body"/>
          </p:nvPr>
        </p:nvSpPr>
        <p:spPr>
          <a:xfrm>
            <a:off x="7966572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47" name="Google Shape;147;p19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 b="0" i="0" sz="4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835" lvl="0" marL="457200" marR="0" rtl="0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Clr>
                <a:schemeClr val="lt2"/>
              </a:buClr>
              <a:buSzPts val="1610"/>
              <a:buFont typeface="Noto Sans Symbols"/>
              <a:buChar char="◈"/>
              <a:defRPr b="0" i="0" sz="23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321944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70"/>
              <a:buFont typeface="Noto Sans Symbols"/>
              <a:buChar char="🞚"/>
              <a:defRPr b="0" i="0" sz="21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0861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◈"/>
              <a:defRPr b="0" i="0" sz="18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9971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🞚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29972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 b="0" i="0" sz="4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835" lvl="0" marL="457200" marR="0" rtl="0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Clr>
                <a:schemeClr val="lt2"/>
              </a:buClr>
              <a:buSzPts val="1610"/>
              <a:buFont typeface="Noto Sans Symbols"/>
              <a:buChar char="◈"/>
              <a:defRPr b="0" i="0" sz="23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321944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70"/>
              <a:buFont typeface="Noto Sans Symbols"/>
              <a:buChar char="🞚"/>
              <a:defRPr b="0" i="0" sz="21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0861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◈"/>
              <a:defRPr b="0" i="0" sz="18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9971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🞚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29972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 rot="5400000">
            <a:off x="7131809" y="1385982"/>
            <a:ext cx="4031414" cy="4100418"/>
          </a:xfrm>
          <a:custGeom>
            <a:rect b="b" l="l" r="r" t="t"/>
            <a:pathLst>
              <a:path extrusionOk="0" h="696" w="1601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54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ts Mill Goud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56" name="Google Shape;156;p20"/>
          <p:cNvSpPr txBox="1"/>
          <p:nvPr>
            <p:ph type="ctrTitle"/>
          </p:nvPr>
        </p:nvSpPr>
        <p:spPr>
          <a:xfrm>
            <a:off x="7389962" y="1673524"/>
            <a:ext cx="3485073" cy="24205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</a:pPr>
            <a:r>
              <a:rPr lang="en-US" sz="4000"/>
              <a:t>Analysis of Wine Quality Dataset</a:t>
            </a:r>
            <a:endParaRPr/>
          </a:p>
        </p:txBody>
      </p:sp>
      <p:sp>
        <p:nvSpPr>
          <p:cNvPr id="157" name="Google Shape;157;p20"/>
          <p:cNvSpPr txBox="1"/>
          <p:nvPr>
            <p:ph idx="1" type="subTitle"/>
          </p:nvPr>
        </p:nvSpPr>
        <p:spPr>
          <a:xfrm>
            <a:off x="7389965" y="4157933"/>
            <a:ext cx="3485072" cy="10265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None/>
            </a:pPr>
            <a:r>
              <a:rPr lang="en-US"/>
              <a:t>VAIBHAV KHANDELWAL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ts Mill Goud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 rotWithShape="1">
          <a:blip r:embed="rId4">
            <a:alphaModFix/>
          </a:blip>
          <a:srcRect b="-1" l="0" r="0" t="0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>
            <p:ph type="title"/>
          </p:nvPr>
        </p:nvSpPr>
        <p:spPr>
          <a:xfrm>
            <a:off x="6900493" y="609600"/>
            <a:ext cx="4538124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</a:pPr>
            <a:r>
              <a:rPr lang="en-US" sz="4000"/>
              <a:t>Contents	</a:t>
            </a:r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6900493" y="1732449"/>
            <a:ext cx="4403596" cy="45159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36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 sz="2400"/>
              <a:t>Most frequently occurring wine quality and max &amp; min value of sales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44"/>
              </a:spcBef>
              <a:spcAft>
                <a:spcPts val="0"/>
              </a:spcAft>
              <a:buSzPct val="70000"/>
              <a:buNone/>
            </a:pPr>
            <a:r>
              <a:rPr lang="en-US" sz="2400"/>
              <a:t>Correlation of various attributes with the wine quality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44"/>
              </a:spcBef>
              <a:spcAft>
                <a:spcPts val="0"/>
              </a:spcAft>
              <a:buSzPct val="70000"/>
              <a:buNone/>
            </a:pPr>
            <a:r>
              <a:rPr lang="en-US" sz="2400"/>
              <a:t>Avg. residual sugar in the best &amp; lowest quality wine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44"/>
              </a:spcBef>
              <a:spcAft>
                <a:spcPts val="0"/>
              </a:spcAft>
              <a:buSzPct val="70000"/>
              <a:buNone/>
            </a:pPr>
            <a:r>
              <a:rPr lang="en-US" sz="2400"/>
              <a:t>Correlation b/w volatile acidity &amp; quality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44"/>
              </a:spcBef>
              <a:spcAft>
                <a:spcPts val="0"/>
              </a:spcAft>
              <a:buSzPct val="70000"/>
              <a:buNone/>
            </a:pPr>
            <a:r>
              <a:rPr lang="en-US" sz="2400"/>
              <a:t>Training a decision tree and random forest classifier model and comparing the accuracy</a:t>
            </a:r>
            <a:endParaRPr/>
          </a:p>
          <a:p>
            <a:pPr indent="-207321" lvl="0" marL="342900" rtl="0" algn="l">
              <a:lnSpc>
                <a:spcPct val="110000"/>
              </a:lnSpc>
              <a:spcBef>
                <a:spcPts val="10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Sorts Mill Goudy"/>
              <a:buNone/>
            </a:pPr>
            <a:r>
              <a:rPr lang="en-US" sz="4800"/>
              <a:t>Q1. Most frequently occurring wine quality and max &amp; min value of sales</a:t>
            </a:r>
            <a:br>
              <a:rPr lang="en-US" sz="4800"/>
            </a:br>
            <a:endParaRPr/>
          </a:p>
        </p:txBody>
      </p:sp>
      <p:pic>
        <p:nvPicPr>
          <p:cNvPr id="173" name="Google Shape;17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487" y="2800350"/>
            <a:ext cx="5871320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174" name="Google Shape;174;p22"/>
          <p:cNvSpPr txBox="1"/>
          <p:nvPr/>
        </p:nvSpPr>
        <p:spPr>
          <a:xfrm>
            <a:off x="6769510" y="2674947"/>
            <a:ext cx="4601286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D5D5D5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most frequently occurring value of wine quality is 5. The highest quality value is 8. The lowest quality value is 3.</a:t>
            </a:r>
            <a:endParaRPr b="0" i="0" sz="23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Sorts Mill Goudy"/>
              <a:buNone/>
            </a:pPr>
            <a:r>
              <a:rPr lang="en-US"/>
              <a:t>Q2. </a:t>
            </a:r>
            <a:r>
              <a:rPr lang="en-US" sz="4800"/>
              <a:t>Correlation of various attributes with the wine quality</a:t>
            </a:r>
            <a:br>
              <a:rPr lang="en-US" sz="4800"/>
            </a:br>
            <a:r>
              <a:rPr lang="en-US"/>
              <a:t> </a:t>
            </a:r>
            <a:endParaRPr/>
          </a:p>
        </p:txBody>
      </p:sp>
      <p:pic>
        <p:nvPicPr>
          <p:cNvPr id="180" name="Google Shape;180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625" y="1730227"/>
            <a:ext cx="5608750" cy="470007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913795" y="2076450"/>
            <a:ext cx="10353762" cy="41719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06000" lvl="0" marL="3429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b="0" i="0" lang="en-US" sz="2700">
                <a:solidFill>
                  <a:srgbClr val="D5D5D5"/>
                </a:solidFill>
              </a:rPr>
              <a:t>The correlation between Fixed Acidity and Quality is 0.12. This indicates a positive, but very weak correlation between these two features, suggesting that the Fixed Acidity does not have a strong impact on the overall wine quality.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59"/>
              </a:spcBef>
              <a:spcAft>
                <a:spcPts val="0"/>
              </a:spcAft>
              <a:buSzPct val="70000"/>
              <a:buChar char="◈"/>
            </a:pPr>
            <a:r>
              <a:rPr b="0" i="0" lang="en-US" sz="2700">
                <a:solidFill>
                  <a:srgbClr val="D5D5D5"/>
                </a:solidFill>
              </a:rPr>
              <a:t>The correlation between Alcohol and Quality is 0.48, indicating that the alcohol content in a wine has a substantial positive effect on the quality. An increase in the alcohol level can lead to an increase in the quality.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59"/>
              </a:spcBef>
              <a:spcAft>
                <a:spcPts val="0"/>
              </a:spcAft>
              <a:buSzPct val="70000"/>
              <a:buChar char="◈"/>
            </a:pPr>
            <a:r>
              <a:rPr b="0" i="0" lang="en-US" sz="2700">
                <a:solidFill>
                  <a:srgbClr val="D5D5D5"/>
                </a:solidFill>
              </a:rPr>
              <a:t>The correlation between Free Sulphur Dioxide and Quality is -0.051, which shows a negative relationship between the two feature. The Free Sulphur Dioxide content in a wine adversely affects its quality.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59"/>
              </a:spcBef>
              <a:spcAft>
                <a:spcPts val="0"/>
              </a:spcAft>
              <a:buSzPct val="70000"/>
              <a:buChar char="◈"/>
            </a:pPr>
            <a:r>
              <a:rPr b="0" i="0" lang="en-US" sz="2700">
                <a:solidFill>
                  <a:srgbClr val="D5D5D5"/>
                </a:solidFill>
              </a:rPr>
              <a:t>Thus, a wine should have more amount of alcohol and acidity and less free sulphur dioxide.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991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Sorts Mill Goudy"/>
              <a:buNone/>
            </a:pPr>
            <a:r>
              <a:rPr lang="en-US"/>
              <a:t>Q3. </a:t>
            </a:r>
            <a:r>
              <a:rPr lang="en-US" sz="4800"/>
              <a:t>Avg. residual sugar in the best &amp; lowest quality wine</a:t>
            </a:r>
            <a:br>
              <a:rPr lang="en-US" sz="4800"/>
            </a:br>
            <a:endParaRPr/>
          </a:p>
        </p:txBody>
      </p:sp>
      <p:pic>
        <p:nvPicPr>
          <p:cNvPr id="192" name="Google Shape;192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502" y="3062862"/>
            <a:ext cx="11768347" cy="111093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The difference between the residual sugar levels in the best and lowest quality wine is negligible. Thus, one might say that the Residual Sugar feature has a minimal impact on the quality.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However, the slight difference between the average level suggests that good quality wines have lesser sugar than the lower quality ones.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Sorts Mill Goudy"/>
              <a:buNone/>
            </a:pPr>
            <a:r>
              <a:rPr lang="en-US"/>
              <a:t>Q4. </a:t>
            </a:r>
            <a:r>
              <a:rPr lang="en-US" sz="4800"/>
              <a:t>Correlation b/w volatile acidity &amp; quality</a:t>
            </a:r>
            <a:br>
              <a:rPr lang="en-US" sz="4800"/>
            </a:br>
            <a:endParaRPr/>
          </a:p>
        </p:txBody>
      </p:sp>
      <p:pic>
        <p:nvPicPr>
          <p:cNvPr id="204" name="Google Shape;20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355" y="1473689"/>
            <a:ext cx="8893290" cy="5089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The correlation between Volatile Acidity and Wine quality is -0.3905. This shows a moderate negative correlation, that implies an adverse effect the volatile acidity has over the quality.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Thus, it is necessary for wine makers to ensure that they maintain low levels of volatile acidity, to create high quality wines.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Sorts Mill Goudy"/>
              <a:buNone/>
            </a:pPr>
            <a:r>
              <a:rPr lang="en-US"/>
              <a:t>Q6. </a:t>
            </a:r>
            <a:r>
              <a:rPr lang="en-US" sz="4800"/>
              <a:t>Training a decision tree and random forest classifier model and comparing the accuracy</a:t>
            </a:r>
            <a:br>
              <a:rPr lang="en-US" sz="4800"/>
            </a:b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None/>
            </a:pPr>
            <a:r>
              <a:rPr lang="en-US"/>
              <a:t>        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rPr lang="en-US"/>
              <a:t>         Decision Tree                                                                Random Forest Classifier</a:t>
            </a:r>
            <a:endParaRPr/>
          </a:p>
        </p:txBody>
      </p:sp>
      <p:pic>
        <p:nvPicPr>
          <p:cNvPr id="217" name="Google Shape;2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82" y="3429000"/>
            <a:ext cx="4283532" cy="13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0138" y="3429000"/>
            <a:ext cx="4283532" cy="135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Steps involved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Separating the predictor and target variables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Splitting the dataset into training and test set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Scaling the split datasets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Training the model (Decision Tree/Random Forest Classifier)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Predicting the values of the test set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Plotting a confusion matrix</a:t>
            </a:r>
            <a:endParaRPr/>
          </a:p>
          <a:p>
            <a:pPr indent="-306000" lvl="0" marL="342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lang="en-US"/>
              <a:t>Obtaining the accuracy score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Both models show moderate accuracy, with Random Forest performing better than Decision Tree.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Random Forest reduces overfitting by averaging multiple decision trees, which likely leads to better generalization and the slight improvement in accuracy.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The Random Forest's higher accuracy shows it is a better choice than Decision Tree for this dataset.</a:t>
            </a:r>
            <a:endParaRPr/>
          </a:p>
          <a:p>
            <a:pPr indent="-306000" lvl="0" marL="342900" rtl="0" algn="just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Char char="◈"/>
            </a:pPr>
            <a:r>
              <a:rPr b="0" i="0" lang="en-US">
                <a:solidFill>
                  <a:srgbClr val="D5D5D5"/>
                </a:solidFill>
              </a:rPr>
              <a:t>However, both the models have a scope for improvement.</a:t>
            </a:r>
            <a:endParaRPr/>
          </a:p>
          <a:p>
            <a:pPr indent="0" lvl="0" marL="36900" rtl="0" algn="l">
              <a:lnSpc>
                <a:spcPct val="110000"/>
              </a:lnSpc>
              <a:spcBef>
                <a:spcPts val="1060"/>
              </a:spcBef>
              <a:spcAft>
                <a:spcPts val="0"/>
              </a:spcAft>
              <a:buSzPts val="1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919119" y="280035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VTI">
  <a:themeElements>
    <a:clrScheme name="Custom 35">
      <a:dk1>
        <a:srgbClr val="000000"/>
      </a:dk1>
      <a:lt1>
        <a:srgbClr val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VTI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