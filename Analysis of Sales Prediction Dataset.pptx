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Sorts Mill Goudy"/>
      <p:regular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ortsMillGoudy-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SortsMillGoudy-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8" name="Google Shape;18;p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24" name="Google Shape;24;p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36" name="Google Shape;36;p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6"/>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42" name="Google Shape;42;p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7"/>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 type="body"/>
          </p:nvPr>
        </p:nvSpPr>
        <p:spPr>
          <a:xfrm>
            <a:off x="1295401" y="3763439"/>
            <a:ext cx="9590550" cy="133349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48" name="Google Shape;48;p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8"/>
          <p:cNvSpPr txBox="1"/>
          <p:nvPr>
            <p:ph type="title"/>
          </p:nvPr>
        </p:nvSpPr>
        <p:spPr>
          <a:xfrm>
            <a:off x="913795" y="609600"/>
            <a:ext cx="10353762" cy="1261872"/>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 type="body"/>
          </p:nvPr>
        </p:nvSpPr>
        <p:spPr>
          <a:xfrm>
            <a:off x="913795" y="2076450"/>
            <a:ext cx="4856841" cy="362267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4" name="Google Shape;54;p8"/>
          <p:cNvSpPr txBox="1"/>
          <p:nvPr>
            <p:ph idx="2" type="body"/>
          </p:nvPr>
        </p:nvSpPr>
        <p:spPr>
          <a:xfrm>
            <a:off x="6410716" y="2076451"/>
            <a:ext cx="4856841" cy="36226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5" name="Google Shape;55;p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pic>
        <p:nvPicPr>
          <p:cNvPr descr="Slate-V2-HD-compPhotoInset.png" id="59" name="Google Shape;59;p9"/>
          <p:cNvPicPr preferRelativeResize="0"/>
          <p:nvPr/>
        </p:nvPicPr>
        <p:blipFill rotWithShape="1">
          <a:blip r:embed="rId2">
            <a:alphaModFix/>
          </a:blip>
          <a:srcRect b="0" l="0" r="0" t="0"/>
          <a:stretch/>
        </p:blipFill>
        <p:spPr>
          <a:xfrm>
            <a:off x="913795" y="1734506"/>
            <a:ext cx="5029200" cy="4099959"/>
          </a:xfrm>
          <a:prstGeom prst="rect">
            <a:avLst/>
          </a:prstGeom>
          <a:noFill/>
          <a:ln>
            <a:noFill/>
          </a:ln>
        </p:spPr>
      </p:pic>
      <p:pic>
        <p:nvPicPr>
          <p:cNvPr descr="Slate-V2-HD-compPhotoInset.png" id="60" name="Google Shape;60;p9"/>
          <p:cNvPicPr preferRelativeResize="0"/>
          <p:nvPr/>
        </p:nvPicPr>
        <p:blipFill rotWithShape="1">
          <a:blip r:embed="rId2">
            <a:alphaModFix/>
          </a:blip>
          <a:srcRect b="0" l="0" r="0" t="0"/>
          <a:stretch/>
        </p:blipFill>
        <p:spPr>
          <a:xfrm>
            <a:off x="6238357" y="1734506"/>
            <a:ext cx="5029200" cy="4099959"/>
          </a:xfrm>
          <a:prstGeom prst="rect">
            <a:avLst/>
          </a:prstGeom>
          <a:noFill/>
          <a:ln>
            <a:noFill/>
          </a:ln>
        </p:spPr>
      </p:pic>
      <p:sp>
        <p:nvSpPr>
          <p:cNvPr id="61" name="Google Shape;61;p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600"/>
              <a:buFont typeface="Sorts Mill Goud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 type="body"/>
          </p:nvPr>
        </p:nvSpPr>
        <p:spPr>
          <a:xfrm>
            <a:off x="1046013" y="1855153"/>
            <a:ext cx="4764764" cy="69249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63" name="Google Shape;63;p9"/>
          <p:cNvSpPr txBox="1"/>
          <p:nvPr>
            <p:ph idx="2" type="body"/>
          </p:nvPr>
        </p:nvSpPr>
        <p:spPr>
          <a:xfrm>
            <a:off x="1046013" y="2702103"/>
            <a:ext cx="4764764"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4" name="Google Shape;64;p9"/>
          <p:cNvSpPr txBox="1"/>
          <p:nvPr>
            <p:ph idx="3" type="body"/>
          </p:nvPr>
        </p:nvSpPr>
        <p:spPr>
          <a:xfrm>
            <a:off x="6363166" y="1855152"/>
            <a:ext cx="4779582" cy="69249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65" name="Google Shape;65;p9"/>
          <p:cNvSpPr txBox="1"/>
          <p:nvPr>
            <p:ph idx="4" type="body"/>
          </p:nvPr>
        </p:nvSpPr>
        <p:spPr>
          <a:xfrm>
            <a:off x="6363167" y="2702103"/>
            <a:ext cx="4779581"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6" name="Google Shape;66;p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2"/>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 type="body"/>
          </p:nvPr>
        </p:nvSpPr>
        <p:spPr>
          <a:xfrm>
            <a:off x="4855633" y="609600"/>
            <a:ext cx="6411924" cy="508000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81" name="Google Shape;81;p12"/>
          <p:cNvSpPr txBox="1"/>
          <p:nvPr>
            <p:ph idx="2" type="body"/>
          </p:nvPr>
        </p:nvSpPr>
        <p:spPr>
          <a:xfrm>
            <a:off x="913795" y="2673351"/>
            <a:ext cx="3706889" cy="30162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82" name="Google Shape;82;p1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pic>
        <p:nvPicPr>
          <p:cNvPr descr="Slate-V2-HD-vertPhotoInset.png" id="86" name="Google Shape;86;p13"/>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87" name="Google Shape;87;p13"/>
          <p:cNvSpPr txBox="1"/>
          <p:nvPr>
            <p:ph type="title"/>
          </p:nvPr>
        </p:nvSpPr>
        <p:spPr>
          <a:xfrm>
            <a:off x="913795" y="763701"/>
            <a:ext cx="5707899" cy="1675559"/>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lnSpc>
                <a:spcPct val="90000"/>
              </a:lnSpc>
              <a:spcBef>
                <a:spcPts val="0"/>
              </a:spcBef>
              <a:spcAft>
                <a:spcPts val="0"/>
              </a:spcAft>
              <a:buClr>
                <a:schemeClr val="lt2"/>
              </a:buClr>
              <a:buSzPts val="3200"/>
              <a:buFont typeface="Sorts Mill Goudy"/>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89" name="Google Shape;89;p13"/>
          <p:cNvSpPr txBox="1"/>
          <p:nvPr>
            <p:ph idx="1" type="body"/>
          </p:nvPr>
        </p:nvSpPr>
        <p:spPr>
          <a:xfrm>
            <a:off x="1473698" y="2679699"/>
            <a:ext cx="4588094" cy="313569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90" name="Google Shape;90;p1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3" name="Shape 93"/>
        <p:cNvGrpSpPr/>
        <p:nvPr/>
      </p:nvGrpSpPr>
      <p:grpSpPr>
        <a:xfrm>
          <a:off x="0" y="0"/>
          <a:ext cx="0" cy="0"/>
          <a:chOff x="0" y="0"/>
          <a:chExt cx="0" cy="0"/>
        </a:xfrm>
      </p:grpSpPr>
      <p:pic>
        <p:nvPicPr>
          <p:cNvPr descr="Slate-V2-HD-panoPhotoInset.png" id="94" name="Google Shape;94;p14"/>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95" name="Google Shape;95;p14"/>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97" name="Google Shape;97;p14"/>
          <p:cNvSpPr txBox="1"/>
          <p:nvPr>
            <p:ph idx="1" type="body"/>
          </p:nvPr>
        </p:nvSpPr>
        <p:spPr>
          <a:xfrm>
            <a:off x="913795" y="5247728"/>
            <a:ext cx="10353762" cy="543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8" name="Google Shape;98;p1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1" name="Shape 101"/>
        <p:cNvGrpSpPr/>
        <p:nvPr/>
      </p:nvGrpSpPr>
      <p:grpSpPr>
        <a:xfrm>
          <a:off x="0" y="0"/>
          <a:ext cx="0" cy="0"/>
          <a:chOff x="0" y="0"/>
          <a:chExt cx="0" cy="0"/>
        </a:xfrm>
      </p:grpSpPr>
      <p:sp>
        <p:nvSpPr>
          <p:cNvPr id="102" name="Google Shape;102;p15"/>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5"/>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4" name="Google Shape;104;p1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7" name="Shape 107"/>
        <p:cNvGrpSpPr/>
        <p:nvPr/>
      </p:nvGrpSpPr>
      <p:grpSpPr>
        <a:xfrm>
          <a:off x="0" y="0"/>
          <a:ext cx="0" cy="0"/>
          <a:chOff x="0" y="0"/>
          <a:chExt cx="0" cy="0"/>
        </a:xfrm>
      </p:grpSpPr>
      <p:sp>
        <p:nvSpPr>
          <p:cNvPr id="108" name="Google Shape;108;p16"/>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3600"/>
              <a:buFont typeface="Sorts Mill Goudy"/>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6"/>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lnSpc>
                <a:spcPct val="110000"/>
              </a:lnSpc>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0" name="Google Shape;110;p16"/>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1" name="Google Shape;111;p1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6"/>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Sorts Mill Goudy"/>
              <a:buNone/>
            </a:pPr>
            <a:r>
              <a:rPr b="0" lang="en-US" sz="8000" cap="none">
                <a:solidFill>
                  <a:schemeClr val="lt1"/>
                </a:solidFill>
                <a:latin typeface="Sorts Mill Goudy"/>
                <a:ea typeface="Sorts Mill Goudy"/>
                <a:cs typeface="Sorts Mill Goudy"/>
                <a:sym typeface="Sorts Mill Goudy"/>
              </a:rPr>
              <a:t>“</a:t>
            </a:r>
            <a:endParaRPr/>
          </a:p>
        </p:txBody>
      </p:sp>
      <p:sp>
        <p:nvSpPr>
          <p:cNvPr id="115" name="Google Shape;115;p16"/>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Sorts Mill Goudy"/>
              <a:buNone/>
            </a:pPr>
            <a:r>
              <a:rPr b="0" lang="en-US" sz="8000" cap="none">
                <a:solidFill>
                  <a:schemeClr val="lt1"/>
                </a:solidFill>
                <a:latin typeface="Sorts Mill Goudy"/>
                <a:ea typeface="Sorts Mill Goudy"/>
                <a:cs typeface="Sorts Mill Goudy"/>
                <a:sym typeface="Sorts Mill Goudy"/>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6" name="Shape 116"/>
        <p:cNvGrpSpPr/>
        <p:nvPr/>
      </p:nvGrpSpPr>
      <p:grpSpPr>
        <a:xfrm>
          <a:off x="0" y="0"/>
          <a:ext cx="0" cy="0"/>
          <a:chOff x="0" y="0"/>
          <a:chExt cx="0" cy="0"/>
        </a:xfrm>
      </p:grpSpPr>
      <p:sp>
        <p:nvSpPr>
          <p:cNvPr id="117" name="Google Shape;117;p17"/>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3200"/>
              <a:buFont typeface="Sorts Mill Goudy"/>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7"/>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9" name="Google Shape;119;p1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22" name="Shape 122"/>
        <p:cNvGrpSpPr/>
        <p:nvPr/>
      </p:nvGrpSpPr>
      <p:grpSpPr>
        <a:xfrm>
          <a:off x="0" y="0"/>
          <a:ext cx="0" cy="0"/>
          <a:chOff x="0" y="0"/>
          <a:chExt cx="0" cy="0"/>
        </a:xfrm>
      </p:grpSpPr>
      <p:sp>
        <p:nvSpPr>
          <p:cNvPr id="123" name="Google Shape;123;p1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8"/>
          <p:cNvSpPr txBox="1"/>
          <p:nvPr>
            <p:ph idx="1" type="body"/>
          </p:nvPr>
        </p:nvSpPr>
        <p:spPr>
          <a:xfrm>
            <a:off x="913795"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5" name="Google Shape;125;p18"/>
          <p:cNvSpPr txBox="1"/>
          <p:nvPr>
            <p:ph idx="2" type="body"/>
          </p:nvPr>
        </p:nvSpPr>
        <p:spPr>
          <a:xfrm>
            <a:off x="91379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6" name="Google Shape;126;p18"/>
          <p:cNvSpPr txBox="1"/>
          <p:nvPr>
            <p:ph idx="3" type="body"/>
          </p:nvPr>
        </p:nvSpPr>
        <p:spPr>
          <a:xfrm>
            <a:off x="4446711" y="1885949"/>
            <a:ext cx="3300984" cy="7647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7" name="Google Shape;127;p18"/>
          <p:cNvSpPr txBox="1"/>
          <p:nvPr>
            <p:ph idx="4" type="body"/>
          </p:nvPr>
        </p:nvSpPr>
        <p:spPr>
          <a:xfrm>
            <a:off x="444143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8" name="Google Shape;128;p18"/>
          <p:cNvSpPr txBox="1"/>
          <p:nvPr>
            <p:ph idx="5" type="body"/>
          </p:nvPr>
        </p:nvSpPr>
        <p:spPr>
          <a:xfrm>
            <a:off x="7966572"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9" name="Google Shape;129;p18"/>
          <p:cNvSpPr txBox="1"/>
          <p:nvPr>
            <p:ph idx="6" type="body"/>
          </p:nvPr>
        </p:nvSpPr>
        <p:spPr>
          <a:xfrm>
            <a:off x="7966572" y="2768110"/>
            <a:ext cx="3300984" cy="302308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30" name="Google Shape;130;p1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33" name="Shape 133"/>
        <p:cNvGrpSpPr/>
        <p:nvPr/>
      </p:nvGrpSpPr>
      <p:grpSpPr>
        <a:xfrm>
          <a:off x="0" y="0"/>
          <a:ext cx="0" cy="0"/>
          <a:chOff x="0" y="0"/>
          <a:chExt cx="0" cy="0"/>
        </a:xfrm>
      </p:grpSpPr>
      <p:pic>
        <p:nvPicPr>
          <p:cNvPr descr="Slate-V2-HD-3colPhotoInset.png" id="134" name="Google Shape;134;p19"/>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35" name="Google Shape;135;p19"/>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36" name="Google Shape;136;p19"/>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37" name="Google Shape;137;p19"/>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9"/>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39" name="Google Shape;139;p19"/>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40" name="Google Shape;140;p19"/>
          <p:cNvSpPr txBox="1"/>
          <p:nvPr>
            <p:ph idx="3" type="body"/>
          </p:nvPr>
        </p:nvSpPr>
        <p:spPr>
          <a:xfrm>
            <a:off x="913795" y="4572443"/>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1" name="Google Shape;141;p19"/>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42" name="Google Shape;142;p19"/>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43" name="Google Shape;143;p19"/>
          <p:cNvSpPr txBox="1"/>
          <p:nvPr>
            <p:ph idx="6" type="body"/>
          </p:nvPr>
        </p:nvSpPr>
        <p:spPr>
          <a:xfrm>
            <a:off x="4441435"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4" name="Google Shape;144;p19"/>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45" name="Google Shape;145;p19"/>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46" name="Google Shape;146;p19"/>
          <p:cNvSpPr txBox="1"/>
          <p:nvPr>
            <p:ph idx="9" type="body"/>
          </p:nvPr>
        </p:nvSpPr>
        <p:spPr>
          <a:xfrm>
            <a:off x="7966572"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7" name="Google Shape;147;p1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theme" Target="../theme/theme1.xml"/><Relationship Id="rId16" Type="http://schemas.openxmlformats.org/officeDocument/2006/relationships/slideLayout" Target="../slideLayouts/slideLayout17.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1" name="Google Shape;11;p1"/>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12" name="Google Shape;12;p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13" name="Google Shape;13;p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14" name="Google Shape;14;p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 name="Shape 27"/>
        <p:cNvGrpSpPr/>
        <p:nvPr/>
      </p:nvGrpSpPr>
      <p:grpSpPr>
        <a:xfrm>
          <a:off x="0" y="0"/>
          <a:ext cx="0" cy="0"/>
          <a:chOff x="0" y="0"/>
          <a:chExt cx="0" cy="0"/>
        </a:xfrm>
      </p:grpSpPr>
      <p:sp>
        <p:nvSpPr>
          <p:cNvPr id="28" name="Google Shape;28;p4"/>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29" name="Google Shape;29;p4"/>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30" name="Google Shape;30;p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31" name="Google Shape;31;p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32" name="Google Shape;32;p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jp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pic>
        <p:nvPicPr>
          <p:cNvPr id="154" name="Google Shape;154;p20"/>
          <p:cNvPicPr preferRelativeResize="0"/>
          <p:nvPr/>
        </p:nvPicPr>
        <p:blipFill rotWithShape="1">
          <a:blip r:embed="rId4">
            <a:alphaModFix/>
          </a:blip>
          <a:srcRect b="0" l="0" r="0" t="0"/>
          <a:stretch/>
        </p:blipFill>
        <p:spPr>
          <a:xfrm>
            <a:off x="-1" y="10"/>
            <a:ext cx="12192001" cy="6857990"/>
          </a:xfrm>
          <a:prstGeom prst="rect">
            <a:avLst/>
          </a:prstGeom>
          <a:noFill/>
          <a:ln>
            <a:noFill/>
          </a:ln>
        </p:spPr>
      </p:pic>
      <p:sp>
        <p:nvSpPr>
          <p:cNvPr id="155" name="Google Shape;155;p20"/>
          <p:cNvSpPr/>
          <p:nvPr/>
        </p:nvSpPr>
        <p:spPr>
          <a:xfrm rot="5400000">
            <a:off x="7131809" y="1385982"/>
            <a:ext cx="4031414" cy="4100418"/>
          </a:xfrm>
          <a:custGeom>
            <a:rect b="b" l="l" r="r" t="t"/>
            <a:pathLst>
              <a:path extrusionOk="0" h="696" w="1601">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blipFill rotWithShape="1">
            <a:blip r:embed="rId3">
              <a:alphaModFix/>
            </a:blip>
            <a:stretch>
              <a:fillRect b="0" l="0" r="0" t="0"/>
            </a:stretch>
          </a:blipFill>
          <a:ln>
            <a:noFill/>
          </a:ln>
          <a:effectLst>
            <a:outerShdw blurRad="50800" rotWithShape="0" algn="tl" dir="5400000" dist="38100">
              <a:srgbClr val="000000">
                <a:alpha val="4274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Sorts Mill Goudy"/>
              <a:buNone/>
            </a:pPr>
            <a:r>
              <a:t/>
            </a:r>
            <a:endParaRPr b="0" i="0" sz="1800" u="none" cap="none" strike="noStrike">
              <a:solidFill>
                <a:srgbClr val="FFFFFF"/>
              </a:solidFill>
              <a:latin typeface="Sorts Mill Goudy"/>
              <a:ea typeface="Sorts Mill Goudy"/>
              <a:cs typeface="Sorts Mill Goudy"/>
              <a:sym typeface="Sorts Mill Goudy"/>
            </a:endParaRPr>
          </a:p>
        </p:txBody>
      </p:sp>
      <p:sp>
        <p:nvSpPr>
          <p:cNvPr id="156" name="Google Shape;156;p20"/>
          <p:cNvSpPr txBox="1"/>
          <p:nvPr>
            <p:ph type="ctrTitle"/>
          </p:nvPr>
        </p:nvSpPr>
        <p:spPr>
          <a:xfrm>
            <a:off x="7389962" y="1673524"/>
            <a:ext cx="3485073" cy="242050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4000"/>
              <a:buFont typeface="Sorts Mill Goudy"/>
              <a:buNone/>
            </a:pPr>
            <a:r>
              <a:rPr lang="en-US" sz="4000"/>
              <a:t>Analysis of Sales Prediction Dataset</a:t>
            </a:r>
            <a:endParaRPr/>
          </a:p>
        </p:txBody>
      </p:sp>
      <p:sp>
        <p:nvSpPr>
          <p:cNvPr id="157" name="Google Shape;157;p20"/>
          <p:cNvSpPr txBox="1"/>
          <p:nvPr>
            <p:ph idx="1" type="subTitle"/>
          </p:nvPr>
        </p:nvSpPr>
        <p:spPr>
          <a:xfrm>
            <a:off x="7389965" y="4157933"/>
            <a:ext cx="3485072" cy="10265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10"/>
              <a:buNone/>
            </a:pPr>
            <a:r>
              <a:rPr lang="en-US"/>
              <a:t>VAIBHAV KHANDELWAL</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1"/>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Sorts Mill Goudy"/>
              <a:buNone/>
            </a:pPr>
            <a:r>
              <a:t/>
            </a:r>
            <a:endParaRPr b="0" i="0" sz="1800" u="none" cap="none" strike="noStrike">
              <a:solidFill>
                <a:srgbClr val="FFFFFF"/>
              </a:solidFill>
              <a:latin typeface="Sorts Mill Goudy"/>
              <a:ea typeface="Sorts Mill Goudy"/>
              <a:cs typeface="Sorts Mill Goudy"/>
              <a:sym typeface="Sorts Mill Goudy"/>
            </a:endParaRPr>
          </a:p>
        </p:txBody>
      </p:sp>
      <p:pic>
        <p:nvPicPr>
          <p:cNvPr id="164" name="Google Shape;164;p21"/>
          <p:cNvPicPr preferRelativeResize="0"/>
          <p:nvPr/>
        </p:nvPicPr>
        <p:blipFill rotWithShape="1">
          <a:blip r:embed="rId4">
            <a:alphaModFix/>
          </a:blip>
          <a:srcRect b="-1" l="0" r="0" t="0"/>
          <a:stretch/>
        </p:blipFill>
        <p:spPr>
          <a:xfrm>
            <a:off x="-8622" y="10"/>
            <a:ext cx="6096000" cy="6857990"/>
          </a:xfrm>
          <a:prstGeom prst="rect">
            <a:avLst/>
          </a:prstGeom>
          <a:noFill/>
          <a:ln>
            <a:noFill/>
          </a:ln>
        </p:spPr>
      </p:pic>
      <p:pic>
        <p:nvPicPr>
          <p:cNvPr id="165" name="Google Shape;165;p21"/>
          <p:cNvPicPr preferRelativeResize="0"/>
          <p:nvPr/>
        </p:nvPicPr>
        <p:blipFill rotWithShape="1">
          <a:blip r:embed="rId5">
            <a:alphaModFix/>
          </a:blip>
          <a:srcRect b="0" l="0" r="0" t="0"/>
          <a:stretch/>
        </p:blipFill>
        <p:spPr>
          <a:xfrm>
            <a:off x="6257026" y="1"/>
            <a:ext cx="5934973" cy="6858000"/>
          </a:xfrm>
          <a:prstGeom prst="rect">
            <a:avLst/>
          </a:prstGeom>
          <a:noFill/>
          <a:ln>
            <a:noFill/>
          </a:ln>
        </p:spPr>
      </p:pic>
      <p:sp>
        <p:nvSpPr>
          <p:cNvPr id="166" name="Google Shape;166;p21"/>
          <p:cNvSpPr txBox="1"/>
          <p:nvPr>
            <p:ph type="title"/>
          </p:nvPr>
        </p:nvSpPr>
        <p:spPr>
          <a:xfrm>
            <a:off x="6765965" y="123764"/>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4000"/>
              <a:buFont typeface="Sorts Mill Goudy"/>
              <a:buNone/>
            </a:pPr>
            <a:r>
              <a:rPr lang="en-US" sz="4000"/>
              <a:t>Contents	</a:t>
            </a:r>
            <a:endParaRPr/>
          </a:p>
        </p:txBody>
      </p:sp>
      <p:sp>
        <p:nvSpPr>
          <p:cNvPr id="167" name="Google Shape;167;p21"/>
          <p:cNvSpPr txBox="1"/>
          <p:nvPr>
            <p:ph idx="1" type="body"/>
          </p:nvPr>
        </p:nvSpPr>
        <p:spPr>
          <a:xfrm>
            <a:off x="6765965" y="1217977"/>
            <a:ext cx="4403596" cy="521698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92500" lnSpcReduction="20000"/>
          </a:bodyPr>
          <a:lstStyle/>
          <a:p>
            <a:pPr indent="0" lvl="0" marL="36900" rtl="0" algn="l">
              <a:lnSpc>
                <a:spcPct val="110000"/>
              </a:lnSpc>
              <a:spcBef>
                <a:spcPts val="0"/>
              </a:spcBef>
              <a:spcAft>
                <a:spcPts val="0"/>
              </a:spcAft>
              <a:buSzPct val="70000"/>
              <a:buNone/>
            </a:pPr>
            <a:r>
              <a:rPr lang="en-US" sz="2400"/>
              <a:t>Average amount spent on TV advertising</a:t>
            </a:r>
            <a:endParaRPr/>
          </a:p>
          <a:p>
            <a:pPr indent="0" lvl="0" marL="36900" rtl="0" algn="l">
              <a:lnSpc>
                <a:spcPct val="110000"/>
              </a:lnSpc>
              <a:spcBef>
                <a:spcPts val="1044"/>
              </a:spcBef>
              <a:spcAft>
                <a:spcPts val="0"/>
              </a:spcAft>
              <a:buSzPct val="70000"/>
              <a:buNone/>
            </a:pPr>
            <a:r>
              <a:rPr lang="en-US" sz="2400"/>
              <a:t>Correlation b/w radio advertising expenditure and sales</a:t>
            </a:r>
            <a:endParaRPr/>
          </a:p>
          <a:p>
            <a:pPr indent="0" lvl="0" marL="36900" rtl="0" algn="l">
              <a:lnSpc>
                <a:spcPct val="110000"/>
              </a:lnSpc>
              <a:spcBef>
                <a:spcPts val="1044"/>
              </a:spcBef>
              <a:spcAft>
                <a:spcPts val="0"/>
              </a:spcAft>
              <a:buSzPct val="70000"/>
              <a:buNone/>
            </a:pPr>
            <a:r>
              <a:rPr lang="en-US" sz="2400"/>
              <a:t>Advertising medium with the highest impact</a:t>
            </a:r>
            <a:endParaRPr/>
          </a:p>
          <a:p>
            <a:pPr indent="0" lvl="0" marL="36900" rtl="0" algn="l">
              <a:lnSpc>
                <a:spcPct val="110000"/>
              </a:lnSpc>
              <a:spcBef>
                <a:spcPts val="1044"/>
              </a:spcBef>
              <a:spcAft>
                <a:spcPts val="0"/>
              </a:spcAft>
              <a:buSzPct val="70000"/>
              <a:buNone/>
            </a:pPr>
            <a:r>
              <a:rPr lang="en-US" sz="2400"/>
              <a:t>Training a Linear Regression Model</a:t>
            </a:r>
            <a:endParaRPr/>
          </a:p>
          <a:p>
            <a:pPr indent="0" lvl="0" marL="36900" rtl="0" algn="l">
              <a:lnSpc>
                <a:spcPct val="110000"/>
              </a:lnSpc>
              <a:spcBef>
                <a:spcPts val="1044"/>
              </a:spcBef>
              <a:spcAft>
                <a:spcPts val="0"/>
              </a:spcAft>
              <a:buSzPct val="70000"/>
              <a:buNone/>
            </a:pPr>
            <a:r>
              <a:rPr lang="en-US" sz="2400"/>
              <a:t>Prediction for a new set of advertising expenditure</a:t>
            </a:r>
            <a:endParaRPr/>
          </a:p>
          <a:p>
            <a:pPr indent="0" lvl="0" marL="36900" rtl="0" algn="l">
              <a:lnSpc>
                <a:spcPct val="110000"/>
              </a:lnSpc>
              <a:spcBef>
                <a:spcPts val="1044"/>
              </a:spcBef>
              <a:spcAft>
                <a:spcPts val="0"/>
              </a:spcAft>
              <a:buSzPct val="70000"/>
              <a:buNone/>
            </a:pPr>
            <a:r>
              <a:rPr lang="en-US" sz="2400"/>
              <a:t>Performance of the model post normalization</a:t>
            </a:r>
            <a:endParaRPr/>
          </a:p>
          <a:p>
            <a:pPr indent="0" lvl="0" marL="36900" rtl="0" algn="l">
              <a:lnSpc>
                <a:spcPct val="110000"/>
              </a:lnSpc>
              <a:spcBef>
                <a:spcPts val="1044"/>
              </a:spcBef>
              <a:spcAft>
                <a:spcPts val="0"/>
              </a:spcAft>
              <a:buSzPct val="70000"/>
              <a:buNone/>
            </a:pPr>
            <a:r>
              <a:rPr lang="en-US" sz="2400"/>
              <a:t>Impact on the model when TV is excluded</a:t>
            </a:r>
            <a:endParaRPr/>
          </a:p>
          <a:p>
            <a:pPr indent="0" lvl="0" marL="36900" rtl="0" algn="l">
              <a:lnSpc>
                <a:spcPct val="110000"/>
              </a:lnSpc>
              <a:spcBef>
                <a:spcPts val="1044"/>
              </a:spcBef>
              <a:spcAft>
                <a:spcPts val="0"/>
              </a:spcAft>
              <a:buSzPct val="70000"/>
              <a:buNone/>
            </a:pPr>
            <a:r>
              <a:t/>
            </a:r>
            <a:endParaRPr sz="2400"/>
          </a:p>
          <a:p>
            <a:pPr indent="-207321" lvl="0" marL="342900" rtl="0" algn="l">
              <a:lnSpc>
                <a:spcPct val="110000"/>
              </a:lnSpc>
              <a:spcBef>
                <a:spcPts val="1044"/>
              </a:spcBef>
              <a:spcAft>
                <a:spcPts val="0"/>
              </a:spcAft>
              <a:buSzPct val="7000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Q1. </a:t>
            </a:r>
            <a:r>
              <a:rPr lang="en-US" sz="4800"/>
              <a:t>Average amount spent on TV advertising</a:t>
            </a:r>
            <a:br>
              <a:rPr lang="en-US" sz="4800"/>
            </a:br>
            <a:endParaRPr/>
          </a:p>
        </p:txBody>
      </p:sp>
      <p:pic>
        <p:nvPicPr>
          <p:cNvPr id="173" name="Google Shape;173;p22"/>
          <p:cNvPicPr preferRelativeResize="0"/>
          <p:nvPr>
            <p:ph idx="1" type="body"/>
          </p:nvPr>
        </p:nvPicPr>
        <p:blipFill rotWithShape="1">
          <a:blip r:embed="rId3">
            <a:alphaModFix/>
          </a:blip>
          <a:srcRect b="0" l="0" r="0" t="0"/>
          <a:stretch/>
        </p:blipFill>
        <p:spPr>
          <a:xfrm>
            <a:off x="598048" y="2647950"/>
            <a:ext cx="4120966" cy="1562100"/>
          </a:xfrm>
          <a:prstGeom prst="rect">
            <a:avLst/>
          </a:prstGeom>
          <a:noFill/>
          <a:ln>
            <a:noFill/>
          </a:ln>
          <a:effectLst>
            <a:outerShdw blurRad="25400">
              <a:srgbClr val="000000">
                <a:alpha val="45882"/>
              </a:srgbClr>
            </a:outerShdw>
          </a:effectLst>
        </p:spPr>
      </p:pic>
      <p:sp>
        <p:nvSpPr>
          <p:cNvPr id="174" name="Google Shape;174;p22"/>
          <p:cNvSpPr txBox="1"/>
          <p:nvPr/>
        </p:nvSpPr>
        <p:spPr>
          <a:xfrm>
            <a:off x="6208663" y="3028890"/>
            <a:ext cx="4867376" cy="8002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300" u="none" cap="none" strike="noStrike">
                <a:solidFill>
                  <a:srgbClr val="D5D5D5"/>
                </a:solidFill>
                <a:latin typeface="Sorts Mill Goudy"/>
                <a:ea typeface="Sorts Mill Goudy"/>
                <a:cs typeface="Sorts Mill Goudy"/>
                <a:sym typeface="Sorts Mill Goudy"/>
              </a:rPr>
              <a:t>$147.0425 was spent on TV Advertising on an average.</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Q2. </a:t>
            </a:r>
            <a:r>
              <a:rPr lang="en-US" sz="4800"/>
              <a:t>Correlation b/w radio advertising expenditure and sales</a:t>
            </a:r>
            <a:br>
              <a:rPr lang="en-US" sz="4800"/>
            </a:br>
            <a:r>
              <a:rPr lang="en-US"/>
              <a:t> </a:t>
            </a:r>
            <a:endParaRPr/>
          </a:p>
        </p:txBody>
      </p:sp>
      <p:pic>
        <p:nvPicPr>
          <p:cNvPr id="180" name="Google Shape;180;p23"/>
          <p:cNvPicPr preferRelativeResize="0"/>
          <p:nvPr>
            <p:ph idx="1" type="body"/>
          </p:nvPr>
        </p:nvPicPr>
        <p:blipFill rotWithShape="1">
          <a:blip r:embed="rId3">
            <a:alphaModFix/>
          </a:blip>
          <a:srcRect b="0" l="0" r="0" t="0"/>
          <a:stretch/>
        </p:blipFill>
        <p:spPr>
          <a:xfrm>
            <a:off x="913795" y="2164604"/>
            <a:ext cx="6913431" cy="3587265"/>
          </a:xfrm>
          <a:prstGeom prst="rect">
            <a:avLst/>
          </a:prstGeom>
          <a:noFill/>
          <a:ln>
            <a:noFill/>
          </a:ln>
          <a:effectLst>
            <a:outerShdw blurRad="25400">
              <a:srgbClr val="000000">
                <a:alpha val="45882"/>
              </a:srgbClr>
            </a:outerShdw>
          </a:effectLst>
        </p:spPr>
      </p:pic>
      <p:sp>
        <p:nvSpPr>
          <p:cNvPr id="181" name="Google Shape;181;p23"/>
          <p:cNvSpPr txBox="1"/>
          <p:nvPr/>
        </p:nvSpPr>
        <p:spPr>
          <a:xfrm>
            <a:off x="8480323" y="2775110"/>
            <a:ext cx="3229897" cy="221599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The scatter plots suggests a relationship that is not exactly linear, but somewhat monotonic. Hence, using Spearman's Correlation is the best.</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187" name="Google Shape;187;p24"/>
          <p:cNvSpPr txBox="1"/>
          <p:nvPr>
            <p:ph idx="1" type="body"/>
          </p:nvPr>
        </p:nvSpPr>
        <p:spPr>
          <a:xfrm>
            <a:off x="569077" y="2144033"/>
            <a:ext cx="10698480" cy="256993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D5D5D5"/>
              </a:buClr>
              <a:buSzPts val="2300"/>
              <a:buFont typeface="Noto Sans Symbols"/>
              <a:buNone/>
            </a:pPr>
            <a:r>
              <a:rPr b="0" i="0" lang="en-US" sz="2300" u="none" cap="none" strike="noStrike">
                <a:solidFill>
                  <a:srgbClr val="D5D5D5"/>
                </a:solidFill>
                <a:latin typeface="Sorts Mill Goudy"/>
                <a:ea typeface="Sorts Mill Goudy"/>
                <a:cs typeface="Sorts Mill Goudy"/>
                <a:sym typeface="Sorts Mill Goudy"/>
              </a:rPr>
              <a:t>The correlation between Radio Advertising Expenditure and Sales is 0.34001</a:t>
            </a:r>
            <a:endParaRPr/>
          </a:p>
          <a:p>
            <a:pPr indent="0" lvl="0" marL="0" marR="0" rtl="0" algn="just">
              <a:lnSpc>
                <a:spcPct val="100000"/>
              </a:lnSpc>
              <a:spcBef>
                <a:spcPts val="0"/>
              </a:spcBef>
              <a:spcAft>
                <a:spcPts val="0"/>
              </a:spcAft>
              <a:buClr>
                <a:schemeClr val="lt1"/>
              </a:buClr>
              <a:buSzPts val="2300"/>
              <a:buFont typeface="Noto Sans Symbols"/>
              <a:buNone/>
            </a:pPr>
            <a:r>
              <a:t/>
            </a:r>
            <a:endParaRPr b="0" i="0" sz="2300" u="none" cap="none" strike="noStrike">
              <a:solidFill>
                <a:srgbClr val="D5D5D5"/>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rgbClr val="D5D5D5"/>
              </a:buClr>
              <a:buSzPts val="2300"/>
              <a:buFont typeface="Noto Sans Symbols"/>
              <a:buNone/>
            </a:pPr>
            <a:r>
              <a:rPr b="0" i="0" lang="en-US" sz="2300" u="none" cap="none" strike="noStrike">
                <a:solidFill>
                  <a:srgbClr val="D5D5D5"/>
                </a:solidFill>
                <a:latin typeface="Sorts Mill Goudy"/>
                <a:ea typeface="Sorts Mill Goudy"/>
                <a:cs typeface="Sorts Mill Goudy"/>
                <a:sym typeface="Sorts Mill Goudy"/>
              </a:rPr>
              <a:t>This indicates that there is a positive relationship between the two features, but it is weak or not very consistent, i.e., an increase in Radio Advertising Expenditure might lead to a slight increase in sales, but it might not increase by a huge margin in a consistent manner.</a:t>
            </a:r>
            <a:endParaRPr b="0" i="0" sz="2300" u="none" cap="none" strike="noStrike">
              <a:solidFill>
                <a:schemeClr val="lt1"/>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chemeClr val="lt1"/>
              </a:buClr>
              <a:buSzPts val="2300"/>
              <a:buFont typeface="Noto Sans Symbols"/>
              <a:buNone/>
            </a:pPr>
            <a:br>
              <a:rPr b="0" i="0" lang="en-US" sz="2300" u="none" cap="none" strike="noStrike">
                <a:solidFill>
                  <a:schemeClr val="lt1"/>
                </a:solidFill>
                <a:latin typeface="Sorts Mill Goudy"/>
                <a:ea typeface="Sorts Mill Goudy"/>
                <a:cs typeface="Sorts Mill Goudy"/>
                <a:sym typeface="Sorts Mill Goudy"/>
              </a:rPr>
            </a:br>
            <a:endParaRPr b="0" i="0" sz="2300" u="none" cap="none" strike="noStrike">
              <a:solidFill>
                <a:schemeClr val="lt1"/>
              </a:solidFill>
              <a:latin typeface="Sorts Mill Goudy"/>
              <a:ea typeface="Sorts Mill Goudy"/>
              <a:cs typeface="Sorts Mill Goudy"/>
              <a:sym typeface="Sorts Mill Goud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Q3. </a:t>
            </a:r>
            <a:r>
              <a:rPr lang="en-US" sz="4800"/>
              <a:t>Advertising medium with the highest impact</a:t>
            </a:r>
            <a:br>
              <a:rPr lang="en-US" sz="4800"/>
            </a:br>
            <a:endParaRPr/>
          </a:p>
        </p:txBody>
      </p:sp>
      <p:pic>
        <p:nvPicPr>
          <p:cNvPr id="193" name="Google Shape;193;p25"/>
          <p:cNvPicPr preferRelativeResize="0"/>
          <p:nvPr>
            <p:ph idx="1" type="body"/>
          </p:nvPr>
        </p:nvPicPr>
        <p:blipFill rotWithShape="1">
          <a:blip r:embed="rId3">
            <a:alphaModFix/>
          </a:blip>
          <a:srcRect b="0" l="0" r="0" t="0"/>
          <a:stretch/>
        </p:blipFill>
        <p:spPr>
          <a:xfrm>
            <a:off x="485635" y="2750821"/>
            <a:ext cx="5290175" cy="2672641"/>
          </a:xfrm>
          <a:prstGeom prst="rect">
            <a:avLst/>
          </a:prstGeom>
          <a:noFill/>
          <a:ln>
            <a:noFill/>
          </a:ln>
          <a:effectLst>
            <a:outerShdw blurRad="25400">
              <a:srgbClr val="000000">
                <a:alpha val="45882"/>
              </a:srgbClr>
            </a:outerShdw>
          </a:effectLst>
        </p:spPr>
      </p:pic>
      <p:sp>
        <p:nvSpPr>
          <p:cNvPr id="194" name="Google Shape;194;p25"/>
          <p:cNvSpPr txBox="1"/>
          <p:nvPr/>
        </p:nvSpPr>
        <p:spPr>
          <a:xfrm>
            <a:off x="6416192" y="2448231"/>
            <a:ext cx="4645742" cy="32778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TV has the highest correlation with Sales</a:t>
            </a:r>
            <a:endParaRPr/>
          </a:p>
          <a:p>
            <a:pPr indent="0" lvl="0" marL="0" marR="0" rtl="0" algn="just">
              <a:spcBef>
                <a:spcPts val="0"/>
              </a:spcBef>
              <a:spcAft>
                <a:spcPts val="0"/>
              </a:spcAft>
              <a:buNone/>
            </a:pPr>
            <a:r>
              <a:t/>
            </a:r>
            <a:endParaRPr sz="2300">
              <a:solidFill>
                <a:srgbClr val="D5D5D5"/>
              </a:solidFill>
              <a:latin typeface="Sorts Mill Goudy"/>
              <a:ea typeface="Sorts Mill Goudy"/>
              <a:cs typeface="Sorts Mill Goudy"/>
              <a:sym typeface="Sorts Mill Goudy"/>
            </a:endParaRPr>
          </a:p>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It can be seen that advertising via TV has the highest impact on sales. Thus, it can be understood that people are most influenced by TV advertisements and hence sellers can strategize accordingly to boost their sales.</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Q4. </a:t>
            </a:r>
            <a:r>
              <a:rPr lang="en-US" sz="4800"/>
              <a:t>Training a Linear Regression Model</a:t>
            </a:r>
            <a:br>
              <a:rPr lang="en-US" sz="4800"/>
            </a:br>
            <a:endParaRPr/>
          </a:p>
        </p:txBody>
      </p:sp>
      <p:pic>
        <p:nvPicPr>
          <p:cNvPr id="200" name="Google Shape;200;p26"/>
          <p:cNvPicPr preferRelativeResize="0"/>
          <p:nvPr>
            <p:ph idx="1" type="body"/>
          </p:nvPr>
        </p:nvPicPr>
        <p:blipFill rotWithShape="1">
          <a:blip r:embed="rId3">
            <a:alphaModFix/>
          </a:blip>
          <a:srcRect b="0" l="0" r="0" t="0"/>
          <a:stretch/>
        </p:blipFill>
        <p:spPr>
          <a:xfrm>
            <a:off x="2923938" y="1589752"/>
            <a:ext cx="6344123" cy="4977527"/>
          </a:xfrm>
          <a:prstGeom prst="rect">
            <a:avLst/>
          </a:prstGeom>
          <a:noFill/>
          <a:ln>
            <a:noFill/>
          </a:ln>
          <a:effectLst>
            <a:outerShdw blurRad="25400">
              <a:srgbClr val="000000">
                <a:alpha val="45882"/>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206" name="Google Shape;206;p27"/>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just">
              <a:lnSpc>
                <a:spcPct val="110000"/>
              </a:lnSpc>
              <a:spcBef>
                <a:spcPts val="0"/>
              </a:spcBef>
              <a:spcAft>
                <a:spcPts val="0"/>
              </a:spcAft>
              <a:buSzPts val="1610"/>
              <a:buChar char="◈"/>
            </a:pPr>
            <a:r>
              <a:rPr b="0" i="0" lang="en-US">
                <a:solidFill>
                  <a:srgbClr val="D5D5D5"/>
                </a:solidFill>
              </a:rPr>
              <a:t>Most of the data points in the Actual vs Predicted plot are scattered around the regression line, showing that the model is fairly accurate.</a:t>
            </a:r>
            <a:endParaRPr/>
          </a:p>
          <a:p>
            <a:pPr indent="-306000" lvl="0" marL="342900" rtl="0" algn="just">
              <a:lnSpc>
                <a:spcPct val="110000"/>
              </a:lnSpc>
              <a:spcBef>
                <a:spcPts val="1060"/>
              </a:spcBef>
              <a:spcAft>
                <a:spcPts val="0"/>
              </a:spcAft>
              <a:buSzPts val="1610"/>
              <a:buChar char="◈"/>
            </a:pPr>
            <a:r>
              <a:rPr b="0" i="0" lang="en-US">
                <a:solidFill>
                  <a:srgbClr val="D5D5D5"/>
                </a:solidFill>
              </a:rPr>
              <a:t>However, deviations increase as the Actual Sales value increases. This might imply that the model's accuracy decreases with an increase in the Actual Sales value.</a:t>
            </a:r>
            <a:endParaRPr/>
          </a:p>
          <a:p>
            <a:pPr indent="-306000" lvl="0" marL="342900" rtl="0" algn="just">
              <a:lnSpc>
                <a:spcPct val="110000"/>
              </a:lnSpc>
              <a:spcBef>
                <a:spcPts val="1060"/>
              </a:spcBef>
              <a:spcAft>
                <a:spcPts val="0"/>
              </a:spcAft>
              <a:buSzPts val="1610"/>
              <a:buChar char="◈"/>
            </a:pPr>
            <a:r>
              <a:rPr b="0" i="0" lang="en-US">
                <a:solidFill>
                  <a:srgbClr val="D5D5D5"/>
                </a:solidFill>
              </a:rPr>
              <a:t>Therefore, the model displays decent performance at lower and intermediate values of Actual Sales but needs improvement at higher levels.</a:t>
            </a:r>
            <a:endParaRPr/>
          </a:p>
          <a:p>
            <a:pPr indent="0" lvl="0" marL="36900" rtl="0" algn="l">
              <a:lnSpc>
                <a:spcPct val="110000"/>
              </a:lnSpc>
              <a:spcBef>
                <a:spcPts val="1060"/>
              </a:spcBef>
              <a:spcAft>
                <a:spcPts val="0"/>
              </a:spcAft>
              <a:buSzPts val="161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Q5. </a:t>
            </a:r>
            <a:r>
              <a:rPr lang="en-US" sz="4800"/>
              <a:t>Prediction for a new set of advertising expenditure</a:t>
            </a:r>
            <a:br>
              <a:rPr lang="en-US" sz="4800"/>
            </a:br>
            <a:r>
              <a:rPr lang="en-US"/>
              <a:t> </a:t>
            </a:r>
            <a:endParaRPr/>
          </a:p>
        </p:txBody>
      </p:sp>
      <p:pic>
        <p:nvPicPr>
          <p:cNvPr id="212" name="Google Shape;212;p28"/>
          <p:cNvPicPr preferRelativeResize="0"/>
          <p:nvPr>
            <p:ph idx="1" type="body"/>
          </p:nvPr>
        </p:nvPicPr>
        <p:blipFill rotWithShape="1">
          <a:blip r:embed="rId3">
            <a:alphaModFix/>
          </a:blip>
          <a:srcRect b="0" l="0" r="0" t="0"/>
          <a:stretch/>
        </p:blipFill>
        <p:spPr>
          <a:xfrm>
            <a:off x="482008" y="2800350"/>
            <a:ext cx="5613992" cy="1257300"/>
          </a:xfrm>
          <a:prstGeom prst="rect">
            <a:avLst/>
          </a:prstGeom>
          <a:noFill/>
          <a:ln>
            <a:noFill/>
          </a:ln>
          <a:effectLst>
            <a:outerShdw blurRad="25400">
              <a:srgbClr val="000000">
                <a:alpha val="45882"/>
              </a:srgbClr>
            </a:outerShdw>
          </a:effectLst>
        </p:spPr>
      </p:pic>
      <p:sp>
        <p:nvSpPr>
          <p:cNvPr id="213" name="Google Shape;213;p28"/>
          <p:cNvSpPr txBox="1"/>
          <p:nvPr/>
        </p:nvSpPr>
        <p:spPr>
          <a:xfrm>
            <a:off x="7020232" y="2851919"/>
            <a:ext cx="4247325" cy="115416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The predicted value of sales for the given expenditure across different advertising mediums is $19.73.</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Q6. </a:t>
            </a:r>
            <a:r>
              <a:rPr lang="en-US" sz="4800"/>
              <a:t>Performance of the model post normalization</a:t>
            </a:r>
            <a:br>
              <a:rPr lang="en-US" sz="4800"/>
            </a:br>
            <a:r>
              <a:rPr lang="en-US"/>
              <a:t> </a:t>
            </a:r>
            <a:endParaRPr/>
          </a:p>
        </p:txBody>
      </p:sp>
      <p:pic>
        <p:nvPicPr>
          <p:cNvPr id="219" name="Google Shape;219;p29"/>
          <p:cNvPicPr preferRelativeResize="0"/>
          <p:nvPr>
            <p:ph idx="1" type="body"/>
          </p:nvPr>
        </p:nvPicPr>
        <p:blipFill rotWithShape="1">
          <a:blip r:embed="rId3">
            <a:alphaModFix/>
          </a:blip>
          <a:srcRect b="0" l="0" r="0" t="0"/>
          <a:stretch/>
        </p:blipFill>
        <p:spPr>
          <a:xfrm>
            <a:off x="2027840" y="2781282"/>
            <a:ext cx="7883075" cy="1295435"/>
          </a:xfrm>
          <a:prstGeom prst="rect">
            <a:avLst/>
          </a:prstGeom>
          <a:noFill/>
          <a:ln>
            <a:noFill/>
          </a:ln>
          <a:effectLst>
            <a:outerShdw blurRad="25400">
              <a:srgbClr val="000000">
                <a:alpha val="45882"/>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225" name="Google Shape;225;p30"/>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just">
              <a:lnSpc>
                <a:spcPct val="110000"/>
              </a:lnSpc>
              <a:spcBef>
                <a:spcPts val="0"/>
              </a:spcBef>
              <a:spcAft>
                <a:spcPts val="0"/>
              </a:spcAft>
              <a:buSzPts val="1610"/>
              <a:buChar char="◈"/>
            </a:pPr>
            <a:r>
              <a:rPr b="0" i="0" lang="en-US">
                <a:solidFill>
                  <a:srgbClr val="D5D5D5"/>
                </a:solidFill>
              </a:rPr>
              <a:t>The value of Mean Squared Error and R-squared error of the model increases from 2.409 and 0.874 respectively, without normalization, to 2.907 and 0.905 respectively, with normalization.</a:t>
            </a:r>
            <a:endParaRPr/>
          </a:p>
          <a:p>
            <a:pPr indent="-306000" lvl="0" marL="342900" rtl="0" algn="just">
              <a:lnSpc>
                <a:spcPct val="110000"/>
              </a:lnSpc>
              <a:spcBef>
                <a:spcPts val="1060"/>
              </a:spcBef>
              <a:spcAft>
                <a:spcPts val="0"/>
              </a:spcAft>
              <a:buSzPts val="1610"/>
              <a:buChar char="◈"/>
            </a:pPr>
            <a:r>
              <a:rPr b="0" i="0" lang="en-US">
                <a:solidFill>
                  <a:srgbClr val="D5D5D5"/>
                </a:solidFill>
              </a:rPr>
              <a:t>Normalization results in the scaling of all features in the dataset. This might lead to skewed results post normalization, since scaling some features might have an adverse effect on the overall performance.</a:t>
            </a:r>
            <a:endParaRPr/>
          </a:p>
          <a:p>
            <a:pPr indent="-306000" lvl="0" marL="342900" rtl="0" algn="just">
              <a:lnSpc>
                <a:spcPct val="110000"/>
              </a:lnSpc>
              <a:spcBef>
                <a:spcPts val="1060"/>
              </a:spcBef>
              <a:spcAft>
                <a:spcPts val="0"/>
              </a:spcAft>
              <a:buSzPts val="1610"/>
              <a:buChar char="◈"/>
            </a:pPr>
            <a:r>
              <a:rPr b="0" i="0" lang="en-US">
                <a:solidFill>
                  <a:srgbClr val="D5D5D5"/>
                </a:solidFill>
              </a:rPr>
              <a:t>Another reason for the slight increase can be the linear relationships among the features, which get distorted after normalization.</a:t>
            </a:r>
            <a:endParaRPr/>
          </a:p>
          <a:p>
            <a:pPr indent="-203764" lvl="0" marL="342900" rtl="0" algn="l">
              <a:lnSpc>
                <a:spcPct val="110000"/>
              </a:lnSpc>
              <a:spcBef>
                <a:spcPts val="1060"/>
              </a:spcBef>
              <a:spcAft>
                <a:spcPts val="0"/>
              </a:spcAft>
              <a:buSzPts val="161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Q7. </a:t>
            </a:r>
            <a:r>
              <a:rPr lang="en-US" sz="4800"/>
              <a:t>Impact on the model when TV is excluded</a:t>
            </a:r>
            <a:br>
              <a:rPr lang="en-US" sz="4800"/>
            </a:br>
            <a:r>
              <a:rPr lang="en-US"/>
              <a:t> </a:t>
            </a:r>
            <a:endParaRPr/>
          </a:p>
        </p:txBody>
      </p:sp>
      <p:pic>
        <p:nvPicPr>
          <p:cNvPr id="231" name="Google Shape;231;p31"/>
          <p:cNvPicPr preferRelativeResize="0"/>
          <p:nvPr>
            <p:ph idx="1" type="body"/>
          </p:nvPr>
        </p:nvPicPr>
        <p:blipFill rotWithShape="1">
          <a:blip r:embed="rId3">
            <a:alphaModFix/>
          </a:blip>
          <a:srcRect b="0" l="0" r="0" t="0"/>
          <a:stretch/>
        </p:blipFill>
        <p:spPr>
          <a:xfrm>
            <a:off x="2060101" y="2946588"/>
            <a:ext cx="7506330" cy="964823"/>
          </a:xfrm>
          <a:prstGeom prst="rect">
            <a:avLst/>
          </a:prstGeom>
          <a:noFill/>
          <a:ln>
            <a:noFill/>
          </a:ln>
          <a:effectLst>
            <a:outerShdw blurRad="25400">
              <a:srgbClr val="000000">
                <a:alpha val="45882"/>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237" name="Google Shape;237;p32"/>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just">
              <a:lnSpc>
                <a:spcPct val="110000"/>
              </a:lnSpc>
              <a:spcBef>
                <a:spcPts val="0"/>
              </a:spcBef>
              <a:spcAft>
                <a:spcPts val="0"/>
              </a:spcAft>
              <a:buSzPts val="1610"/>
              <a:buChar char="◈"/>
            </a:pPr>
            <a:r>
              <a:rPr b="0" lang="en-US">
                <a:solidFill>
                  <a:srgbClr val="D4D4D4"/>
                </a:solidFill>
              </a:rPr>
              <a:t>TV has the highest correlation with Sales, compared to the other advertising mediums. This shows that TV is the medium that is used to reach a broad range of audience and has the most impact on sales.</a:t>
            </a:r>
            <a:endParaRPr/>
          </a:p>
          <a:p>
            <a:pPr indent="-306000" lvl="0" marL="342900" rtl="0" algn="just">
              <a:lnSpc>
                <a:spcPct val="110000"/>
              </a:lnSpc>
              <a:spcBef>
                <a:spcPts val="1060"/>
              </a:spcBef>
              <a:spcAft>
                <a:spcPts val="0"/>
              </a:spcAft>
              <a:buSzPts val="1610"/>
              <a:buChar char="◈"/>
            </a:pPr>
            <a:r>
              <a:rPr b="0" lang="en-US">
                <a:solidFill>
                  <a:srgbClr val="D4D4D4"/>
                </a:solidFill>
              </a:rPr>
              <a:t>Thus, excluding TV from the linear regression model impairs the predictive power of the model. It also increases the error values of the model. As expected, the MSE and R-Squared Error values see a massive spike when TV is excluded.</a:t>
            </a:r>
            <a:endParaRPr/>
          </a:p>
          <a:p>
            <a:pPr indent="-203764" lvl="0" marL="342900" rtl="0" algn="l">
              <a:lnSpc>
                <a:spcPct val="110000"/>
              </a:lnSpc>
              <a:spcBef>
                <a:spcPts val="1060"/>
              </a:spcBef>
              <a:spcAft>
                <a:spcPts val="0"/>
              </a:spcAft>
              <a:buSzPts val="161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919119" y="2482645"/>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VTI">
  <a:themeElements>
    <a:clrScheme name="Custom 35">
      <a:dk1>
        <a:srgbClr val="000000"/>
      </a:dk1>
      <a:lt1>
        <a:srgbClr val="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VTI">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